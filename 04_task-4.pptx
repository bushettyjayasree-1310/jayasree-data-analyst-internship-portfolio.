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F2D0A-930A-4AFE-B841-A1786DE786E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4359F-6270-46DF-8A19-6B6F417C18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83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34359F-6270-46DF-8A19-6B6F417C186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72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6119-1D25-CA2D-CFF8-9B022E575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07ACA-680D-DDA7-196C-C496D3771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0B1C-251C-A1E3-DE64-DA0A6C289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21809-C710-731C-F21C-1BB670A0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1328-22A8-3763-8151-0FEB2500A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3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A80B-0AC2-ACCF-CEE8-2FFA0152B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0D88F-F0FF-40B8-A607-737C68387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8D3D-0671-989C-055A-1A9F0B69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AD457-B844-F7B3-7FFB-A9FA032A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C87B1-7FB0-C916-F1D2-4231B5CE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98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68CB-C522-8ED2-BCB8-3C1BA1FBB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F6364-9D2D-D3EF-1E71-7F12867B4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91A6A-268C-90F9-5736-2FBBEC0C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AE72A-DEE1-8C58-F0FB-1E4BE4D4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0FEE7-0E3A-8D4A-47DB-A02E4082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6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A4FE0-074B-911C-8303-830CAE31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E5B4F-C7AA-EBF7-89CF-362C8A64B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8FFEA-42AB-4A87-B790-F2DB56D84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2FF67-E2BD-6EEE-F2D9-CD43471A2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F55F6-784C-8B09-07DF-10B33C69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9BB4F-F208-DAA9-9CF0-767D980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97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7C81-633B-640A-614D-2BAFBFD27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A474E-1C85-5268-95C4-5AF1198A1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CBFBB-2702-2464-3DA4-E3F67559D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D3E460-1143-F06C-9B2F-C5C1D8F8C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4329A-1DF7-A60C-F0AB-CAE3DDC19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F2017-E2EE-66C0-FA25-E5682B83E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6D27F-303C-5F77-B5A7-CCA9C3FD9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897424-5B93-1588-698C-45B97599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65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2266-0E1E-E965-DA3D-03A470D4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015DE-2D4D-2473-EEC9-F6C9F45F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B55ACB-4FCB-18D0-E3EC-B67378D8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14EA1-80D2-11D2-2364-410F214FC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440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1685F3-CDAA-47F7-8006-2E46FA05B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02BEF-EF9E-2AF4-80E1-A0E0A44E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0DEA3-1A99-3AB7-732F-DD6BCD8B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91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7C192-9CDD-EC0B-D3B0-D8792562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EFCD5-BCC2-C85D-1F5F-B321EE127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F2258-66D2-42D4-9C50-2D3F2AE7F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26B71-3364-85A6-F5EE-3A608C4D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1FE4A-AA30-F334-822E-726F5CD46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AFBEF-6288-8283-68B0-967613C7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51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C36E-FB5D-D4D4-7D0D-B838287DA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9248CD-360D-4473-F9D0-CF938747F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F91B1-4C34-752C-ECDC-DDE1525F1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0BECB-F5E1-399B-5D06-981D92097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F973B-12F1-3C9E-A2EA-9E5B20C6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A2774-25A8-E29C-9064-C961FEB3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4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B50B6-7378-86FB-7F95-9DEE97D8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8BA99-5B88-C3B4-B240-22FB82CB3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36A52-32CB-70C1-C65A-0F686D98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5616A-F51F-46E1-3351-83AC6772B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566D7-3D69-BE2E-F6CA-CEA938CA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760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CAC45-456F-CAD2-C636-F866E0A41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73ACB9-FD42-1829-4BF6-B016D069B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27312-DFAB-2572-00A0-D5F478A8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4113D-B0A1-EC9F-F458-A3A32CED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33E4-C315-7E00-DF49-FC4944BB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50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E733A-E572-99A6-0166-816AA4D71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18111-02D3-E291-6358-3C1919F97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83335-F0ED-991D-BFDD-517BD993A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469F7-7963-4BB2-A6D4-67D524C4AC50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F5BA4-46B3-2E68-3566-27BF6FEE4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3BDB1-EA73-3C4A-864A-4D493F603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AF37E-4059-47AC-A2F2-3DE0F6619C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91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CC52-102E-CF26-4A9D-389CA7FA1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2071"/>
            <a:ext cx="9144000" cy="2933891"/>
          </a:xfrm>
        </p:spPr>
        <p:txBody>
          <a:bodyPr>
            <a:normAutofit/>
          </a:bodyPr>
          <a:lstStyle/>
          <a:p>
            <a:r>
              <a:rPr lang="en-US" dirty="0"/>
              <a:t>BLADDER CANCER TREATMENT : INSIGHTS &amp; STATISTICAL VALIDATION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27DCF-D565-14CD-5DE9-A3E8407099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Data-Driven Evaluation of Treatment </a:t>
            </a:r>
            <a:r>
              <a:rPr lang="en-US" dirty="0" err="1"/>
              <a:t>Effectivenes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B.Jayasree</a:t>
            </a:r>
            <a:r>
              <a:rPr lang="en-US" dirty="0"/>
              <a:t>   </a:t>
            </a:r>
            <a:r>
              <a:rPr lang="en-US" dirty="0" err="1"/>
              <a:t>Apexplanet</a:t>
            </a:r>
            <a:r>
              <a:rPr lang="en-US" dirty="0"/>
              <a:t>  20-04-2026   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971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EF008-AE3F-4C46-23AC-8EC4CA91D8AA}"/>
              </a:ext>
            </a:extLst>
          </p:cNvPr>
          <p:cNvSpPr txBox="1"/>
          <p:nvPr/>
        </p:nvSpPr>
        <p:spPr>
          <a:xfrm>
            <a:off x="219456" y="201168"/>
            <a:ext cx="1116482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 OBJECTIVES:</a:t>
            </a:r>
          </a:p>
          <a:p>
            <a:endParaRPr lang="en-US" sz="3600" b="1" dirty="0"/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000" dirty="0"/>
              <a:t>Evaluate the effectiveness of different bladder cancer treatments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000" dirty="0"/>
              <a:t>Analyze response rates and survival outcomes </a:t>
            </a:r>
            <a:r>
              <a:rPr lang="en-US" sz="2000" b="1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000" dirty="0"/>
              <a:t>Identify key factors influencing patient success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000" dirty="0"/>
              <a:t>Validate findings using statistical methods </a:t>
            </a:r>
          </a:p>
          <a:p>
            <a:endParaRPr lang="en-US" sz="3600" b="1" dirty="0"/>
          </a:p>
          <a:p>
            <a:endParaRPr lang="en-US" sz="3600" b="1" dirty="0"/>
          </a:p>
          <a:p>
            <a:endParaRPr lang="en-US" sz="3600" b="1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7354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B1CB-DCC1-E6C7-6E96-1AEA2140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Dataset Overview 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BB023-7DBA-E904-9E5C-31989C51B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Source: GLOBOCAN 2022 Dataset </a:t>
            </a:r>
          </a:p>
          <a:p>
            <a:r>
              <a:rPr lang="en-IN" sz="2000" dirty="0"/>
              <a:t>Domain: Healthcare / Oncology </a:t>
            </a:r>
          </a:p>
          <a:p>
            <a:r>
              <a:rPr lang="en-IN" sz="2000" dirty="0"/>
              <a:t>Key Variables: </a:t>
            </a:r>
          </a:p>
          <a:p>
            <a:pPr lvl="1"/>
            <a:r>
              <a:rPr lang="en-IN" sz="2000" dirty="0"/>
              <a:t>Treatment Type </a:t>
            </a:r>
          </a:p>
          <a:p>
            <a:pPr lvl="1"/>
            <a:r>
              <a:rPr lang="en-IN" sz="2000" dirty="0"/>
              <a:t>Response Rate (%) </a:t>
            </a:r>
          </a:p>
          <a:p>
            <a:pPr lvl="1"/>
            <a:r>
              <a:rPr lang="en-IN" sz="2000" dirty="0"/>
              <a:t>5-Year Survival Rate (%) </a:t>
            </a:r>
          </a:p>
          <a:p>
            <a:pPr lvl="1"/>
            <a:r>
              <a:rPr lang="en-IN" sz="2000" dirty="0"/>
              <a:t>Cancer Stage </a:t>
            </a:r>
          </a:p>
          <a:p>
            <a:pPr lvl="1"/>
            <a:r>
              <a:rPr lang="en-IN" sz="2000" dirty="0"/>
              <a:t>FDA Approval Status </a:t>
            </a:r>
          </a:p>
          <a:p>
            <a:r>
              <a:rPr lang="en-IN" sz="2000" dirty="0"/>
              <a:t> Dataset enables comparison of treatment effectiveness across multiple dimensions.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257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7465-33B5-CFEB-EE26-EBA44298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Response Rate By Treatment Type:</a:t>
            </a:r>
            <a:br>
              <a:rPr lang="en-US" sz="3600" b="1" dirty="0"/>
            </a:br>
            <a:r>
              <a:rPr lang="en-US" sz="3600" b="1" dirty="0"/>
              <a:t>                                                             </a:t>
            </a:r>
            <a:endParaRPr lang="en-IN" sz="36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E4564-5E8C-4BFB-58C4-D731EC098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38" y="1253331"/>
            <a:ext cx="4847845" cy="435133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5FE7FE6-47CA-ACEF-33FB-0EBB21DE2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1384" y="1506022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17C4D2-873A-1F9E-7743-D1695C61C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052" y="1871165"/>
            <a:ext cx="659994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latin typeface="Arial" panose="020B0604020202020204" pitchFamily="34" charset="0"/>
              </a:rPr>
              <a:t>.</a:t>
            </a:r>
            <a:r>
              <a:rPr lang="en-US" altLang="en-US" sz="2000" dirty="0">
                <a:latin typeface="Arial" panose="020B0604020202020204" pitchFamily="34" charset="0"/>
              </a:rPr>
              <a:t>Treatment Effectiveness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rates vary significantly across treatments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treatments show consistently higher effectiveness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Treatment selection directly impacts patient recovery success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49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2293-0E53-A2BE-B24E-D241AE01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5665418" y="2342102"/>
            <a:ext cx="6005376" cy="803434"/>
          </a:xfrm>
        </p:spPr>
        <p:txBody>
          <a:bodyPr>
            <a:normAutofit fontScale="90000"/>
          </a:bodyPr>
          <a:lstStyle/>
          <a:p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/>
              <a:t>Noticeable differences in survival rates across treatment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. High-response treatments often correlate with better survival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. Not all treatments deliver equal long-term outcomes.</a:t>
            </a:r>
            <a:br>
              <a:rPr lang="en-US" sz="2000" dirty="0"/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4CC7A8-8513-052D-175C-CFBA238BA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53" y="1368425"/>
            <a:ext cx="4826405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CB9E3E-B34A-36FF-D62F-F72D1713AB43}"/>
              </a:ext>
            </a:extLst>
          </p:cNvPr>
          <p:cNvSpPr txBox="1"/>
          <p:nvPr/>
        </p:nvSpPr>
        <p:spPr>
          <a:xfrm>
            <a:off x="1117854" y="560378"/>
            <a:ext cx="6700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Survival Rate By Treatment Type: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99358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C73A-9A67-F2E3-042E-7B44892C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0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Survival Rate By Cancer Stage:</a:t>
            </a:r>
            <a:br>
              <a:rPr lang="en-US" sz="3600" dirty="0"/>
            </a:br>
            <a:br>
              <a:rPr lang="en-US" sz="3600" dirty="0"/>
            </a:br>
            <a:br>
              <a:rPr lang="en-US" sz="3600" dirty="0"/>
            </a:br>
            <a:endParaRPr lang="en-IN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E053A3-5F2E-5310-A569-59589D514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43" y="1498664"/>
            <a:ext cx="5099438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4E8626-E679-E9CF-4C08-D64A9F6CFC23}"/>
              </a:ext>
            </a:extLst>
          </p:cNvPr>
          <p:cNvSpPr txBox="1"/>
          <p:nvPr/>
        </p:nvSpPr>
        <p:spPr>
          <a:xfrm>
            <a:off x="5533644" y="1826010"/>
            <a:ext cx="6094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r>
              <a:rPr lang="en-US" sz="2000" dirty="0"/>
              <a:t>. Survival rates decrease significantly in advanced stages </a:t>
            </a:r>
            <a:br>
              <a:rPr lang="en-US" sz="2000" dirty="0"/>
            </a:br>
            <a:r>
              <a:rPr lang="en-US" sz="2000" dirty="0"/>
              <a:t> .  Early-stage patients show a much higher survival   probability</a:t>
            </a:r>
            <a:br>
              <a:rPr lang="en-US" sz="2000" dirty="0"/>
            </a:br>
            <a:r>
              <a:rPr lang="en-US" sz="2000" dirty="0"/>
              <a:t> . Early diagnosis is critical for improving patient survival</a:t>
            </a:r>
            <a:r>
              <a:rPr lang="en-US" sz="1800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454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CDF2-2A2E-4D5F-AEEF-0359FA43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380" y="2199124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r>
              <a:rPr lang="en-US" sz="2000" dirty="0"/>
              <a:t>. </a:t>
            </a:r>
            <a:r>
              <a:rPr lang="en-US" sz="1800" dirty="0"/>
              <a:t>FDA-approved treatments show more consistent outcomes 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. Non-approved treatments have higher variability</a:t>
            </a:r>
            <a:br>
              <a:rPr lang="en-US" sz="1800" dirty="0"/>
            </a:br>
            <a:r>
              <a:rPr lang="en-US" sz="1800" dirty="0"/>
              <a:t> </a:t>
            </a:r>
            <a:br>
              <a:rPr lang="en-US" sz="1800" dirty="0"/>
            </a:br>
            <a:r>
              <a:rPr lang="en-US" sz="1800" dirty="0"/>
              <a:t>. Regulatory approval is often associated with reliability and</a:t>
            </a:r>
            <a:br>
              <a:rPr lang="en-US" sz="1800" dirty="0"/>
            </a:br>
            <a:r>
              <a:rPr lang="en-US" sz="1800" dirty="0"/>
              <a:t>  effectiveness.</a:t>
            </a:r>
            <a:br>
              <a:rPr lang="en-US" sz="1800" dirty="0"/>
            </a:b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738541-9F3C-C3FB-6418-304F820E3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481" y="1349018"/>
            <a:ext cx="5295278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993F28-0F3F-B45A-24EB-4A6078E43155}"/>
              </a:ext>
            </a:extLst>
          </p:cNvPr>
          <p:cNvSpPr txBox="1"/>
          <p:nvPr/>
        </p:nvSpPr>
        <p:spPr>
          <a:xfrm>
            <a:off x="1684176" y="370505"/>
            <a:ext cx="8257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FDA Approval vs Treatment Performance: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16434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AA6D2-4F9D-BBB7-0179-A5BAF068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Problem Statement: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A78B-B713-679F-43DC-3AD382E52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5144"/>
            <a:ext cx="11186160" cy="4471415"/>
          </a:xfrm>
        </p:spPr>
        <p:txBody>
          <a:bodyPr/>
          <a:lstStyle/>
          <a:p>
            <a:r>
              <a:rPr lang="en-US" sz="2400" dirty="0"/>
              <a:t>Observed differences in treatment performance </a:t>
            </a:r>
          </a:p>
          <a:p>
            <a:r>
              <a:rPr lang="en-US" sz="2400" dirty="0"/>
              <a:t>Unclear if differences are statistically significant </a:t>
            </a:r>
          </a:p>
          <a:p>
            <a:r>
              <a:rPr lang="en-US" sz="2400" dirty="0"/>
              <a:t>Need validation to support decision-making </a:t>
            </a:r>
          </a:p>
          <a:p>
            <a:r>
              <a:rPr lang="en-US" sz="2400" dirty="0"/>
              <a:t>Do treatment types significantly impact survival rates?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4972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C93D-B63F-DF65-65A7-D418A4E5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Hypothesis Formulation: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41783F-FEDE-AA27-2D82-656B43D3A0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2208" y="2529310"/>
            <a:ext cx="850696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H₀ (Null Hypothesis):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 type does NOT affect survival rates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H₁ (Alternative Hypothesis):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 type DOES affect survival rates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Used: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ANOVA (Analysis of Variance)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Reason: Comparing multiple treatment groups </a:t>
            </a:r>
          </a:p>
        </p:txBody>
      </p:sp>
    </p:spTree>
    <p:extLst>
      <p:ext uri="{BB962C8B-B14F-4D97-AF65-F5344CB8AC3E}">
        <p14:creationId xmlns:p14="http://schemas.microsoft.com/office/powerpoint/2010/main" val="265564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FA67-438C-EC43-2D60-0105AC86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Hypothesis Test Results: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56C32-7AC7-B550-CA28-723AA5EFB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F-statistic</a:t>
            </a:r>
          </a:p>
          <a:p>
            <a:r>
              <a:rPr lang="en-US" sz="2400" dirty="0"/>
              <a:t>P-value </a:t>
            </a:r>
          </a:p>
          <a:p>
            <a:r>
              <a:rPr lang="en-US" sz="2400" dirty="0"/>
              <a:t>If p &lt; 0.05:</a:t>
            </a:r>
          </a:p>
          <a:p>
            <a:pPr marL="0" indent="0">
              <a:buNone/>
            </a:pPr>
            <a:r>
              <a:rPr lang="en-US" sz="2400" dirty="0"/>
              <a:t>      The p-value is less than 0.05, indicating a statistically significant </a:t>
            </a:r>
          </a:p>
          <a:p>
            <a:pPr marL="0" indent="0">
              <a:buNone/>
            </a:pPr>
            <a:r>
              <a:rPr lang="en-US" sz="2400" dirty="0"/>
              <a:t>       differences in survival rates across treatments.</a:t>
            </a:r>
            <a:endParaRPr lang="en-IN" sz="2400" dirty="0"/>
          </a:p>
          <a:p>
            <a:r>
              <a:rPr lang="en-IN" sz="2400" dirty="0"/>
              <a:t>If p &gt; 0.05:</a:t>
            </a:r>
          </a:p>
          <a:p>
            <a:pPr marL="0" indent="0">
              <a:buNone/>
            </a:pPr>
            <a:r>
              <a:rPr lang="en-IN" sz="2400" dirty="0"/>
              <a:t>      No statistically significant difference observed. </a:t>
            </a:r>
          </a:p>
          <a:p>
            <a:endParaRPr lang="en-IN" sz="24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635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CA48-C146-DCE4-D8AF-45624DF0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Recommendations: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DB2B6-9BFF-28C7-36AB-C407315A0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7832" cy="4667250"/>
          </a:xfrm>
        </p:spPr>
        <p:txBody>
          <a:bodyPr>
            <a:normAutofit/>
          </a:bodyPr>
          <a:lstStyle/>
          <a:p>
            <a:r>
              <a:rPr lang="en-US" sz="2400" dirty="0"/>
              <a:t>Prioritize high-performing treatments(FDA approved </a:t>
            </a:r>
            <a:r>
              <a:rPr lang="en-US" sz="2400" dirty="0" err="1"/>
              <a:t>tratments</a:t>
            </a:r>
            <a:r>
              <a:rPr lang="en-US" sz="2400" dirty="0"/>
              <a:t>)</a:t>
            </a:r>
          </a:p>
          <a:p>
            <a:r>
              <a:rPr lang="en-US" sz="2400" dirty="0"/>
              <a:t>Encourage early cancer detection programs</a:t>
            </a:r>
          </a:p>
          <a:p>
            <a:r>
              <a:rPr lang="en-US" sz="2400" dirty="0"/>
              <a:t>Invest in improving low-performing treatments </a:t>
            </a:r>
          </a:p>
          <a:p>
            <a:r>
              <a:rPr lang="en-US" sz="2400" dirty="0"/>
              <a:t>Promote usage of clinically validated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1086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109F4-659E-DC1F-C898-FAF513AD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Conclusion: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6B145-99C4-FC89-2EA2-A12048ABD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992" y="1606169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Treatment type plays a key role in patient survival</a:t>
            </a:r>
          </a:p>
          <a:p>
            <a:r>
              <a:rPr lang="en-US" sz="2400" dirty="0"/>
              <a:t>Significant  variation exists across treatment methods</a:t>
            </a:r>
          </a:p>
          <a:p>
            <a:r>
              <a:rPr lang="en-US" sz="2400" dirty="0"/>
              <a:t>Statistical testing validates key findings</a:t>
            </a:r>
          </a:p>
          <a:p>
            <a:r>
              <a:rPr lang="en-US" sz="2400" dirty="0"/>
              <a:t>Data-driven decisions can improve healthcare outcomes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46818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408</Words>
  <Application>Microsoft Office PowerPoint</Application>
  <PresentationFormat>Widescreen</PresentationFormat>
  <Paragraphs>78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Theme</vt:lpstr>
      <vt:lpstr>BLADDER CANCER TREATMENT : INSIGHTS &amp; STATISTICAL VALIDATION </vt:lpstr>
      <vt:lpstr>PowerPoint Presentation</vt:lpstr>
      <vt:lpstr>Dataset Overview </vt:lpstr>
      <vt:lpstr>Response Rate By Treatment Type:                                                              </vt:lpstr>
      <vt:lpstr>  . Noticeable differences in survival rates across treatment  . High-response treatments often correlate with better survival   . Not all treatments deliver equal long-term outcomes.                                                    </vt:lpstr>
      <vt:lpstr>Survival Rate By Cancer Stage:   </vt:lpstr>
      <vt:lpstr> . FDA-approved treatments show more consistent outcomes   . Non-approved treatments have higher variability   . Regulatory approval is often associated with reliability and   effectiveness. </vt:lpstr>
      <vt:lpstr>Problem Statement:</vt:lpstr>
      <vt:lpstr>Hypothesis Formulation:</vt:lpstr>
      <vt:lpstr>Hypothesis Test Results:</vt:lpstr>
      <vt:lpstr>Recommendations: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kalyan</dc:creator>
  <cp:lastModifiedBy>Aditya kalyan</cp:lastModifiedBy>
  <cp:revision>1</cp:revision>
  <dcterms:created xsi:type="dcterms:W3CDTF">2026-04-20T14:29:40Z</dcterms:created>
  <dcterms:modified xsi:type="dcterms:W3CDTF">2026-04-20T16:16:37Z</dcterms:modified>
</cp:coreProperties>
</file>